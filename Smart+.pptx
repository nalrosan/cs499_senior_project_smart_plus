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6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DM Sans Medium" pitchFamily="2" charset="0"/>
      <p:regular r:id="rId23"/>
    </p:embeddedFont>
    <p:embeddedFont>
      <p:font typeface="Inter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33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24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96E3-0341-A7DA-DCDF-0DAB9E33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ED17B-B814-32FA-5B90-3BEDCB8A6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4DDA8-8ABD-4A39-C4C7-EB47A3127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5BC41-1AB9-4324-7561-638461430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30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4684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Smart+: Monitoring Student Well-being.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93790" y="2551986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Smart+ Using Apple Watch Data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4089797"/>
            <a:ext cx="13042821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Supervisors: Dr Tariq Soussan, Dr Khalid </a:t>
            </a:r>
            <a:r>
              <a:rPr lang="en-US" sz="19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Tarmissi</a:t>
            </a:r>
            <a:endParaRPr lang="en-US" sz="1950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Members: Naif Aba Alrous, Bader </a:t>
            </a:r>
            <a:r>
              <a:rPr lang="en-US" sz="19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Alforij</a:t>
            </a: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Mohammed </a:t>
            </a:r>
            <a:r>
              <a:rPr lang="en-US" sz="19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NourAldin</a:t>
            </a: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Ziyad Bin </a:t>
            </a:r>
            <a:r>
              <a:rPr lang="en-US" sz="19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Juwayid</a:t>
            </a: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Abdullah </a:t>
            </a:r>
            <a:r>
              <a:rPr lang="en-US" sz="19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Babkeer</a:t>
            </a: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Saud </a:t>
            </a:r>
            <a:r>
              <a:rPr lang="en-US" sz="195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Alqadhib</a:t>
            </a: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CS499, SE499. 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1950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538758"/>
            <a:ext cx="4898350" cy="612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Overview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3669" y="1542812"/>
            <a:ext cx="13063061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Smart Health Alert and Monitoring System uses Apple Watch data for proactive health management in academic settings, ensuring early detection and timely intervention for student well-being.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3669" y="2566511"/>
            <a:ext cx="764667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Collects continuous student health data (heart rate, activity, sleep, blood oxygen) from Apple Watch sensors.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3669" y="3261955"/>
            <a:ext cx="764667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analyze vitals to identify deviations and generate immediate, actionable alerts.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3669" y="3957399"/>
            <a:ext cx="764667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professionals review alerts via a secure dashboard to assess severity and determine appropriate interventions.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3669" y="4652843"/>
            <a:ext cx="764667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proactive system significantly improves early detection of health risks, providing timely support and fostering a healthier campus community.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876" y="2610564"/>
            <a:ext cx="4938474" cy="4938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241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Identified Problem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69331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2148" y="246768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29C9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2631281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261360"/>
            <a:ext cx="35448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Manual Monitoring Impractical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69058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monitoring of student health is impractical and inconsistent.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2269331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12737" y="246768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29C9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6448" y="2631281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2737" y="3261360"/>
            <a:ext cx="25356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Missed Warning Signs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12737" y="369058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warning signs are often missed during normal classroom operations.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722376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92148" y="492073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29C9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5859" y="5084326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2148" y="5714405"/>
            <a:ext cx="27042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 Real Time Oversight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2148" y="614362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time health oversight is missing in learning environments.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722376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612737" y="492073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29C9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6448" y="5084326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12737" y="5714405"/>
            <a:ext cx="34406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Lack of Structured Escalation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12737" y="6143625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systems lack structured alert escalation and medical validation.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18C76-31B6-346B-B30E-7139622D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48C0B5-E864-4E53-9D6C-8DDA63763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7574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12FAF7C-0811-1FC7-766F-88E23770AC18}"/>
              </a:ext>
            </a:extLst>
          </p:cNvPr>
          <p:cNvSpPr/>
          <p:nvPr/>
        </p:nvSpPr>
        <p:spPr>
          <a:xfrm>
            <a:off x="696158" y="2655570"/>
            <a:ext cx="5987772" cy="54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Agile Development Approach</a:t>
            </a:r>
            <a:endParaRPr lang="en-US" sz="3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BD4E45F-9417-A186-A597-1F3A8160A0E2}"/>
              </a:ext>
            </a:extLst>
          </p:cNvPr>
          <p:cNvSpPr/>
          <p:nvPr/>
        </p:nvSpPr>
        <p:spPr>
          <a:xfrm>
            <a:off x="696158" y="3460433"/>
            <a:ext cx="13238083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was developed using iterative sprints where each sprint delivered a complete functional module ready for integration and testing.</a:t>
            </a:r>
            <a:endParaRPr lang="en-US" sz="17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79B4A9C-0DC0-BB66-0D23-2A693E442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58" y="4352211"/>
            <a:ext cx="6619042" cy="696158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10192543-0C61-B505-924B-8767631D74A5}"/>
              </a:ext>
            </a:extLst>
          </p:cNvPr>
          <p:cNvSpPr/>
          <p:nvPr/>
        </p:nvSpPr>
        <p:spPr>
          <a:xfrm>
            <a:off x="870109" y="5222319"/>
            <a:ext cx="2175748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Initialization</a:t>
            </a:r>
            <a:endParaRPr lang="en-US" sz="17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88831B7-F042-9B2D-00E4-5BABE1B83A19}"/>
              </a:ext>
            </a:extLst>
          </p:cNvPr>
          <p:cNvSpPr/>
          <p:nvPr/>
        </p:nvSpPr>
        <p:spPr>
          <a:xfrm>
            <a:off x="870109" y="5598557"/>
            <a:ext cx="6271141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project scope and initial requirements.</a:t>
            </a:r>
            <a:endParaRPr lang="en-US" sz="135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74E2027C-CA64-40E4-8E45-C48B60D44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352211"/>
            <a:ext cx="6619042" cy="69615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56DE9176-C89F-4DCB-14E1-F6C81CCD8DBC}"/>
              </a:ext>
            </a:extLst>
          </p:cNvPr>
          <p:cNvSpPr/>
          <p:nvPr/>
        </p:nvSpPr>
        <p:spPr>
          <a:xfrm>
            <a:off x="7489150" y="5222319"/>
            <a:ext cx="2175748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F5D85E7-7FC3-E28B-011F-EF83A09B4C03}"/>
              </a:ext>
            </a:extLst>
          </p:cNvPr>
          <p:cNvSpPr/>
          <p:nvPr/>
        </p:nvSpPr>
        <p:spPr>
          <a:xfrm>
            <a:off x="7489150" y="5598557"/>
            <a:ext cx="6271141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development, testing, and integration of features.</a:t>
            </a:r>
            <a:endParaRPr lang="en-US" sz="135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7F3683DE-945E-D61B-288A-B8230516F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158" y="6050994"/>
            <a:ext cx="6619042" cy="696158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8B7610EE-1FAE-2681-FE17-D7F195E88150}"/>
              </a:ext>
            </a:extLst>
          </p:cNvPr>
          <p:cNvSpPr/>
          <p:nvPr/>
        </p:nvSpPr>
        <p:spPr>
          <a:xfrm>
            <a:off x="870109" y="6921103"/>
            <a:ext cx="2175748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Optimization</a:t>
            </a:r>
            <a:endParaRPr lang="en-US" sz="17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0F1B26C-450B-38A9-7E95-57B169ECB038}"/>
              </a:ext>
            </a:extLst>
          </p:cNvPr>
          <p:cNvSpPr/>
          <p:nvPr/>
        </p:nvSpPr>
        <p:spPr>
          <a:xfrm>
            <a:off x="870109" y="7297341"/>
            <a:ext cx="6271141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Refining functionality and improving performance based on feedback.</a:t>
            </a:r>
            <a:endParaRPr lang="en-US" sz="1350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D29479F3-3D84-9862-F647-E64F72577B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6050994"/>
            <a:ext cx="6619042" cy="696158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7E663A99-6FD4-45FA-6CCA-3A385E2E3470}"/>
              </a:ext>
            </a:extLst>
          </p:cNvPr>
          <p:cNvSpPr/>
          <p:nvPr/>
        </p:nvSpPr>
        <p:spPr>
          <a:xfrm>
            <a:off x="7489150" y="6921103"/>
            <a:ext cx="2175748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DFBD55B-7AB1-DF17-541F-2DFEDD1CF768}"/>
              </a:ext>
            </a:extLst>
          </p:cNvPr>
          <p:cNvSpPr/>
          <p:nvPr/>
        </p:nvSpPr>
        <p:spPr>
          <a:xfrm>
            <a:off x="7489150" y="7297341"/>
            <a:ext cx="6271141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Releasing the module for use and continuous monitoring.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07729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601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Main Objectives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4292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204" y="248013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2480072"/>
            <a:ext cx="88012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Collect vital signs using Apple Watch and HealthKit integration.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93790" y="328624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204" y="332345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38632" y="3323392"/>
            <a:ext cx="80660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sustained abnormal health patterns automatically.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93790" y="412956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204" y="416677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438632" y="4166711"/>
            <a:ext cx="664487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Generate structured medical alerts for doctors.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93790" y="497288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204" y="501009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438632" y="5010031"/>
            <a:ext cx="89127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Support decision making through dashboards and notifications.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93790" y="581620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204" y="585341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438632" y="5853351"/>
            <a:ext cx="90769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Ensure system readiness for pilot deployment in real classrooms.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3790" y="648593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326" y="957263"/>
            <a:ext cx="7883247" cy="55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Sprint Planning and Achieved Outputs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05326" y="1860947"/>
            <a:ext cx="6521648" cy="2377321"/>
          </a:xfrm>
          <a:prstGeom prst="roundRect">
            <a:avLst>
              <a:gd name="adj" fmla="val 111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8186" y="1883807"/>
            <a:ext cx="6475928" cy="528995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33932" y="1982986"/>
            <a:ext cx="264438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04518" y="2589133"/>
            <a:ext cx="5984438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29C9C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Sprint 1</a:t>
            </a: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Core Data Integration and System Setup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04518" y="3025497"/>
            <a:ext cx="6123265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bullets: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04518" y="3413284"/>
            <a:ext cx="6123265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iOS HealthKit data collection and backend infrastructure established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4518" y="3757017"/>
            <a:ext cx="6123265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authentication and role based access portal implemented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03306" y="1860947"/>
            <a:ext cx="6521768" cy="2377321"/>
          </a:xfrm>
          <a:prstGeom prst="roundRect">
            <a:avLst>
              <a:gd name="adj" fmla="val 111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26166" y="1883807"/>
            <a:ext cx="6476048" cy="528995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31912" y="1982986"/>
            <a:ext cx="264438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7602498" y="2589133"/>
            <a:ext cx="5233392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29C9C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Sprint 2</a:t>
            </a: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Alert Engine and Doctor Workflow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602498" y="3025497"/>
            <a:ext cx="612338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bullets: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02498" y="3413284"/>
            <a:ext cx="612338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evaluation logic and severity classification developed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02498" y="3757017"/>
            <a:ext cx="612338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case review, acceptance, and decision logging enabled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5326" y="4414599"/>
            <a:ext cx="6521648" cy="2377321"/>
          </a:xfrm>
          <a:prstGeom prst="roundRect">
            <a:avLst>
              <a:gd name="adj" fmla="val 111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186" y="4437459"/>
            <a:ext cx="6475928" cy="528995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33932" y="4536638"/>
            <a:ext cx="264438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904518" y="5142786"/>
            <a:ext cx="5909667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29C9C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Sprint 3</a:t>
            </a: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Notification System and KPI Dashboard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904518" y="5579150"/>
            <a:ext cx="6123265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bullets: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04518" y="5966936"/>
            <a:ext cx="6123265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notification system with templates integrated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4518" y="6310670"/>
            <a:ext cx="6123265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time KPI dashboard with filtering and export features deployed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403306" y="4414599"/>
            <a:ext cx="6521768" cy="2377321"/>
          </a:xfrm>
          <a:prstGeom prst="roundRect">
            <a:avLst>
              <a:gd name="adj" fmla="val 111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26166" y="4437459"/>
            <a:ext cx="6476048" cy="528995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31912" y="4536638"/>
            <a:ext cx="264438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7602498" y="5142786"/>
            <a:ext cx="5804416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29C9C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Sprint 4</a:t>
            </a: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Simulation Testing and Pilot Readiness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7602498" y="5579150"/>
            <a:ext cx="612338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bullets: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602498" y="5966936"/>
            <a:ext cx="612338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alert simulations and performance testing completed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602498" y="6310670"/>
            <a:ext cx="612338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deployment readiness and system validation finalized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05326" y="6990278"/>
            <a:ext cx="13219748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0033"/>
            <a:ext cx="63278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Operational Stages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86125"/>
            <a:ext cx="627935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429C9C"/>
                </a:solidFill>
                <a:latin typeface="DM Sans Medium" pitchFamily="34" charset="0"/>
              </a:rPr>
              <a:t>Stage 1</a:t>
            </a: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Data Monitoring and Alert Generation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22862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 focuses on collecting vitals and generating alerts.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3286125"/>
            <a:ext cx="627935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>
                <a:solidFill>
                  <a:srgbClr val="429C9C"/>
                </a:solidFill>
                <a:latin typeface="DM Sans Medium" pitchFamily="34" charset="0"/>
              </a:rPr>
              <a:t>Stage 2 </a:t>
            </a:r>
            <a:r>
              <a:rPr lang="en-US" sz="23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Doctor </a:t>
            </a: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Review and Compliance Decision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64874" y="422862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 focuses on doctor evaluation, response, and decision recording.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265539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 focuses on collecting vitals and generating alerts. Stage 2 focuses on doctor evaluation, response, and decision recording.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5718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Requirements Phase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507492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conducted among students and medical professionals.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46187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usability, privacy, medical accuracy, and system reliability.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84882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guided system feature prioritization and interface design.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623577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privacy and secure access were rated as critical requirements.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609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8747" y="469106"/>
            <a:ext cx="5606534" cy="53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Design Architecture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168747" y="1258014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168747" y="1525072"/>
            <a:ext cx="3804404" cy="22860"/>
          </a:xfrm>
          <a:prstGeom prst="rect">
            <a:avLst/>
          </a:prstGeom>
          <a:solidFill>
            <a:srgbClr val="4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68747" y="1656040"/>
            <a:ext cx="3804404" cy="79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Layered design separating mobile app, backend engine, and doctor portal.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143649" y="1258014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143649" y="1525072"/>
            <a:ext cx="3804404" cy="22860"/>
          </a:xfrm>
          <a:prstGeom prst="rect">
            <a:avLst/>
          </a:prstGeom>
          <a:solidFill>
            <a:srgbClr val="4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143649" y="1656040"/>
            <a:ext cx="3804404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pipeline structure ensures secure handling of health information.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168747" y="2753797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68747" y="3020854"/>
            <a:ext cx="7779306" cy="22860"/>
          </a:xfrm>
          <a:prstGeom prst="rect">
            <a:avLst/>
          </a:prstGeom>
          <a:solidFill>
            <a:srgbClr val="4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68747" y="3151823"/>
            <a:ext cx="7331035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Scalable architecture supports real time processing and alert generation.</a:t>
            </a:r>
            <a:endParaRPr lang="en-US" sz="1650" dirty="0"/>
          </a:p>
        </p:txBody>
      </p:sp>
      <p:pic>
        <p:nvPicPr>
          <p:cNvPr id="14" name="Picture 13" descr="A screenshot of a cloud diagram&#10;&#10;AI-generated content may be incorrect.">
            <a:extLst>
              <a:ext uri="{FF2B5EF4-FFF2-40B4-BE49-F238E27FC236}">
                <a16:creationId xmlns:a16="http://schemas.microsoft.com/office/drawing/2014/main" id="{83AAA669-20BF-33D8-CCF9-38B04C3D4F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23" b="13590"/>
          <a:stretch>
            <a:fillRect/>
          </a:stretch>
        </p:blipFill>
        <p:spPr bwMode="auto">
          <a:xfrm>
            <a:off x="6253994" y="3609142"/>
            <a:ext cx="6424315" cy="44640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725" y="453509"/>
            <a:ext cx="4123849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Flow Design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25" y="1298853"/>
            <a:ext cx="6655475" cy="659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4627" y="2123480"/>
            <a:ext cx="206192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View Layer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4627" y="2480191"/>
            <a:ext cx="6325672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interface displays health data and user interactions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298853"/>
            <a:ext cx="6655475" cy="659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0102" y="2123480"/>
            <a:ext cx="206192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Controller Layer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80102" y="2480191"/>
            <a:ext cx="6325672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input, manages navigation, and coordinates data flow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25" y="2908935"/>
            <a:ext cx="6655475" cy="6597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627" y="3733562"/>
            <a:ext cx="206192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Layer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4627" y="4090273"/>
            <a:ext cx="6325672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health data, manages business logic, and database operations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908935"/>
            <a:ext cx="6655475" cy="659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80102" y="3733562"/>
            <a:ext cx="206192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480102" y="4090273"/>
            <a:ext cx="6325672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health records, alerts, and system data</a:t>
            </a:r>
            <a:endParaRPr lang="en-US" sz="12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501FD5-87B8-524B-1F64-4840C748C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27" y="4787490"/>
            <a:ext cx="9096375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63316"/>
            <a:ext cx="50293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Alert Evaluation Logic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4626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content: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280190" y="313241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based rules applied on vitals such as heart rate and oxygen levels.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351936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analysis applied to detect sustained abnormal patterns.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390632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score formula example: Alert Score = weighted sum of deviation multiplied by duration factor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254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Notification Strategy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3486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Content points: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919061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include vital summaries and severity classification.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2018" y="4306014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Graphs guides clinical decision making.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692968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instructions: Add mockup space for sample email template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189101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421" y="2425009"/>
            <a:ext cx="5751086" cy="3623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29721"/>
            <a:ext cx="57392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KPI Dashboard Structure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447455"/>
            <a:ext cx="75564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points: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406765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active alerts, resolved alerts, and system performance metrics.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45460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trend graphs and response time analytics.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484155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filtering, sorting, and export functionality.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382339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instructions: Reserve area for dashboard screenshot or layout wireframe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747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Testing Approach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54392"/>
            <a:ext cx="6422231" cy="1189196"/>
          </a:xfrm>
          <a:prstGeom prst="roundRect">
            <a:avLst>
              <a:gd name="adj" fmla="val 250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5008" y="2975610"/>
            <a:ext cx="266259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Multiple Testing Layers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40483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testing layers applied across all modules.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754392"/>
            <a:ext cx="6422231" cy="1189196"/>
          </a:xfrm>
          <a:prstGeom prst="roundRect">
            <a:avLst>
              <a:gd name="adj" fmla="val 250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597" y="29756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Functional Testing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35597" y="340483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testing for alert logic.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141946"/>
            <a:ext cx="6422231" cy="1189196"/>
          </a:xfrm>
          <a:prstGeom prst="roundRect">
            <a:avLst>
              <a:gd name="adj" fmla="val 250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5008" y="43631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Integration Testing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008" y="479238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testing between app and backend.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141946"/>
            <a:ext cx="6422231" cy="1189196"/>
          </a:xfrm>
          <a:prstGeom prst="roundRect">
            <a:avLst>
              <a:gd name="adj" fmla="val 250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597" y="43631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Usability Testing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35597" y="479238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Usability testing for doctor portal.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617458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037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Sample Test Case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097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Content format: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379470"/>
            <a:ext cx="13042821" cy="2298859"/>
          </a:xfrm>
          <a:prstGeom prst="roundRect">
            <a:avLst>
              <a:gd name="adj" fmla="val 129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338709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9887" y="351377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Case Name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911923" y="3513773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heart rate alert detection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957995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9887" y="4084677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11923" y="4084677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 heart rate above configured threshold for 10 minutes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452889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9887" y="4655582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Output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911923" y="4655582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generated with high severity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509980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9887" y="5226487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Result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911923" y="5226487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29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248" y="449818"/>
            <a:ext cx="4669274" cy="51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Output Samples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48" y="1390174"/>
            <a:ext cx="3312438" cy="57966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4248" y="7370802"/>
            <a:ext cx="4128730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Alert Notification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696" y="1390174"/>
            <a:ext cx="4128730" cy="23931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89696" y="3967282"/>
            <a:ext cx="4128730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Portal Dashboard - Real-time monitoring of patient vitals with trend analysis and alert history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144" y="1390174"/>
            <a:ext cx="4266009" cy="21872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25144" y="3761423"/>
            <a:ext cx="4266009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Review Interface - Doctors can accept or reject alerts with severity classification and patient details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302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Outcomes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89935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407688"/>
            <a:ext cx="30193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Reliable Real Time System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836908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real time health alert system achieved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3289935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285" y="34076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Accurate Detection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183285" y="3836908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detection of abnormal health patterns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551283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930" y="4669036"/>
            <a:ext cx="30678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Improved Decision Making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537930" y="5098256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decision making workflow for doctors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9144" y="4551283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285" y="46690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Pilot Ready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183285" y="5098256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ready for controlled pilot testing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93790" y="563903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instructions: Use four clean blocks with icons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7574"/>
            <a:ext cx="66076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 and Future Work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6136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429C9C"/>
                </a:solidFill>
                <a:latin typeface="DM Sans Medium" pitchFamily="34" charset="0"/>
              </a:rPr>
              <a:t>Content</a:t>
            </a:r>
            <a:r>
              <a:rPr lang="en-US" sz="2300" dirty="0">
                <a:solidFill>
                  <a:srgbClr val="4A088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sz="2300" dirty="0">
                <a:solidFill>
                  <a:srgbClr val="429C9C"/>
                </a:solidFill>
                <a:latin typeface="DM Sans Medium" pitchFamily="34" charset="0"/>
              </a:rPr>
              <a:t>points: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18409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demonstrates effective smart health monitoring in academic environments.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88858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proactive medical intervention through automation.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613666"/>
            <a:ext cx="315063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429C9C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enhancements: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64874" y="418409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additional wearable devices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57104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predictive analytics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95800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doctor application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34495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deployment to multiple campuses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79953"/>
            <a:ext cx="99236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0"/>
              </a:lnSpc>
              <a:buNone/>
            </a:pPr>
            <a:r>
              <a:rPr lang="en-US" sz="7800" dirty="0">
                <a:solidFill>
                  <a:srgbClr val="429C9C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793790" y="4018002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7F7F8"/>
                </a:solidFill>
                <a:latin typeface="DM Sans Medium" pitchFamily="34" charset="0"/>
              </a:rPr>
              <a:t>Smart+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481179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questions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543198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971</Words>
  <Application>Microsoft Office PowerPoint</Application>
  <PresentationFormat>Custom</PresentationFormat>
  <Paragraphs>170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DM Sans Light</vt:lpstr>
      <vt:lpstr>DM Sans Medium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Naif Aba Alrous</cp:lastModifiedBy>
  <cp:revision>9</cp:revision>
  <dcterms:created xsi:type="dcterms:W3CDTF">2025-11-26T16:50:05Z</dcterms:created>
  <dcterms:modified xsi:type="dcterms:W3CDTF">2025-11-27T03:25:39Z</dcterms:modified>
</cp:coreProperties>
</file>